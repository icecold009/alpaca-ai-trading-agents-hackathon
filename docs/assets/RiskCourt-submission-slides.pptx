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af1715eebf4d4d" /><Relationship Type="http://schemas.openxmlformats.org/officeDocument/2006/relationships/extended-properties" Target="/docProps/app.xml" Id="R33d16ad9962a44d9" /><Relationship Type="http://schemas.openxmlformats.org/officeDocument/2006/relationships/officeDocument" Target="/ppt/presentation.xml" Id="R7987fc1e301945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7d85e531d422b"/>
  </p:sldMasterIdLst>
  <p:notesMasterIdLst>
    <p:notesMasterId xmlns:r="http://schemas.openxmlformats.org/officeDocument/2006/relationships" r:id="Rd7ab06ebbe424032"/>
  </p:notesMasterIdLst>
  <p:sldIdLst>
    <p:sldId xmlns:r="http://schemas.openxmlformats.org/officeDocument/2006/relationships" id="256" r:id="R2a90d81a15274de2"/>
    <p:sldId xmlns:r="http://schemas.openxmlformats.org/officeDocument/2006/relationships" id="257" r:id="R080fd96ccbb14d65"/>
    <p:sldId xmlns:r="http://schemas.openxmlformats.org/officeDocument/2006/relationships" id="258" r:id="R8b912f3764a945b0"/>
    <p:sldId xmlns:r="http://schemas.openxmlformats.org/officeDocument/2006/relationships" id="259" r:id="Rdd0051d6cfb346e8"/>
    <p:sldId xmlns:r="http://schemas.openxmlformats.org/officeDocument/2006/relationships" id="260" r:id="Rc3f71a98a7d84e12"/>
    <p:sldId xmlns:r="http://schemas.openxmlformats.org/officeDocument/2006/relationships" id="261" r:id="R92f9378a2d824394"/>
    <p:sldId xmlns:r="http://schemas.openxmlformats.org/officeDocument/2006/relationships" id="262" r:id="R4db018a912b9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a784fb11964fce" /><Relationship Type="http://schemas.openxmlformats.org/officeDocument/2006/relationships/slideMaster" Target="/ppt/slideMasters/slideMaster1.xml" Id="Ra407d85e531d422b" /><Relationship Type="http://schemas.openxmlformats.org/officeDocument/2006/relationships/notesMaster" Target="/ppt/notesMasters/notesMaster1.xml" Id="Rd7ab06ebbe424032" /><Relationship Type="http://schemas.openxmlformats.org/officeDocument/2006/relationships/presProps" Target="/ppt/presProps.xml" Id="Re2207e51997e472a" /><Relationship Type="http://schemas.openxmlformats.org/officeDocument/2006/relationships/tableStyles" Target="/ppt/tableStyles.xml" Id="Rd7770d489a8d46d4" /><Relationship Type="http://schemas.openxmlformats.org/officeDocument/2006/relationships/slide" Target="/ppt/slides/slide1.xml" Id="R2a90d81a15274de2" /><Relationship Type="http://schemas.openxmlformats.org/officeDocument/2006/relationships/slide" Target="/ppt/slides/slide2.xml" Id="R080fd96ccbb14d65" /><Relationship Type="http://schemas.openxmlformats.org/officeDocument/2006/relationships/slide" Target="/ppt/slides/slide3.xml" Id="R8b912f3764a945b0" /><Relationship Type="http://schemas.openxmlformats.org/officeDocument/2006/relationships/slide" Target="/ppt/slides/slide4.xml" Id="Rdd0051d6cfb346e8" /><Relationship Type="http://schemas.openxmlformats.org/officeDocument/2006/relationships/slide" Target="/ppt/slides/slide5.xml" Id="Rc3f71a98a7d84e12" /><Relationship Type="http://schemas.openxmlformats.org/officeDocument/2006/relationships/slide" Target="/ppt/slides/slide6.xml" Id="R92f9378a2d824394" /><Relationship Type="http://schemas.openxmlformats.org/officeDocument/2006/relationships/slide" Target="/ppt/slides/slide7.xml" Id="R4db018a912b9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8b5e8c270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ae9273849946ec" /><Relationship Type="http://schemas.openxmlformats.org/officeDocument/2006/relationships/notesMaster" Target="/ppt/notesMasters/notesMaster1.xml" Id="R48984a64597140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7296a0b8e4341" /><Relationship Type="http://schemas.openxmlformats.org/officeDocument/2006/relationships/notesMaster" Target="/ppt/notesMasters/notesMaster1.xml" Id="R0645d99726d740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6e4286a25a4ec2" /><Relationship Type="http://schemas.openxmlformats.org/officeDocument/2006/relationships/notesMaster" Target="/ppt/notesMasters/notesMaster1.xml" Id="R392419716a154a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981d938374240" /><Relationship Type="http://schemas.openxmlformats.org/officeDocument/2006/relationships/notesMaster" Target="/ppt/notesMasters/notesMaster1.xml" Id="R7b6e410633de49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4de76703784e93" /><Relationship Type="http://schemas.openxmlformats.org/officeDocument/2006/relationships/notesMaster" Target="/ppt/notesMasters/notesMaster1.xml" Id="Rd117b91fc817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cd8bfd2e24af9" /><Relationship Type="http://schemas.openxmlformats.org/officeDocument/2006/relationships/notesMaster" Target="/ppt/notesMasters/notesMaster1.xml" Id="R2e6d49e4d2a4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f2143e0e504ba3" /><Relationship Type="http://schemas.openxmlformats.org/officeDocument/2006/relationships/notesMaster" Target="/ppt/notesMasters/notesMaster1.xml" Id="R9ac97f8f8bb842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README.md and docs/TECHNICAL_WRITEUP.md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docs/STRATEGY_MATH.md</a:t>
            </a:r>
          </a:p>
          <a:p xmlns:a="http://schemas.openxmlformats.org/drawingml/2006/main">
            <a:r>
              <a:t>- RiskCourt repository docs/EVENT_REQUIREMENTS.md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docs/STRATEGY_MATH.md</a:t>
            </a:r>
          </a:p>
          <a:p xmlns:a="http://schemas.openxmlformats.org/drawingml/2006/main">
            <a:r>
              <a:t>- RiskCourt repository backend/tests/test_strategy_math.py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docs/STRATEGY_MATH.md</a:t>
            </a:r>
          </a:p>
          <a:p xmlns:a="http://schemas.openxmlformats.org/drawingml/2006/main">
            <a:r>
              <a:t>- RiskCourt repository backend/src/riskcourt/approval_guard.py</a:t>
            </a:r>
          </a:p>
          <a:p xmlns:a="http://schemas.openxmlformats.org/drawingml/2006/main">
            <a:r>
              <a:t>- RiskCourt repository backend/src/riskcourt/risk_limits.py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backend/src/riskcourt/alpaca_account.py</a:t>
            </a:r>
          </a:p>
          <a:p xmlns:a="http://schemas.openxmlformats.org/drawingml/2006/main">
            <a:r>
              <a:t>- RiskCourt repository backend/src/riskcourt/alpaca_market_data.py</a:t>
            </a:r>
          </a:p>
          <a:p xmlns:a="http://schemas.openxmlformats.org/drawingml/2006/main">
            <a:r>
              <a:t>- RiskCourt repository backend/src/riskcourt/alpaca_option_chain.py</a:t>
            </a:r>
          </a:p>
          <a:p xmlns:a="http://schemas.openxmlformats.org/drawingml/2006/main">
            <a:r>
              <a:t>- RiskCourt repository backend/src/riskcourt/alpaca_order.py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fixtures/evaluation/fd045.json</a:t>
            </a:r>
          </a:p>
          <a:p xmlns:a="http://schemas.openxmlformats.org/drawingml/2006/main">
            <a:r>
              <a:t>- RiskCourt repository docs/DEMO_REHEARSAL.md</a:t>
            </a:r>
          </a:p>
          <a:p xmlns:a="http://schemas.openxmlformats.org/drawingml/2006/main">
            <a:r>
              <a:t>- RiskCourt repository docs/GATE_D_EVIDENCE.md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RiskCourt repository docs/SECURITY_REVIEW.md</a:t>
            </a:r>
          </a:p>
          <a:p xmlns:a="http://schemas.openxmlformats.org/drawingml/2006/main">
            <a:r>
              <a:t>- RiskCourt repository docs/FIVE_DAY_TODO.md</a:t>
            </a:r>
          </a:p>
          <a:p xmlns:a="http://schemas.openxmlformats.org/drawingml/2006/main">
            <a:r>
              <a:t>- RiskCourt repository docs/EVENT_REQUIREMENTS.md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f907b08af41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72421752b14a5e" /><Relationship Type="http://schemas.openxmlformats.org/officeDocument/2006/relationships/slideLayout" Target="/ppt/slideLayouts/slideLayout1.xml" Id="R238357ba4e6d4d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8357ba4e6d4d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da235b4944297" /><Relationship Type="http://schemas.openxmlformats.org/officeDocument/2006/relationships/notesSlide" Target="/ppt/notesSlides/notesSlide1.xml" Id="Rd38d12a01f234d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7141a4a3f4820" /><Relationship Type="http://schemas.openxmlformats.org/officeDocument/2006/relationships/notesSlide" Target="/ppt/notesSlides/notesSlide2.xml" Id="R74a92399aa5b41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8c34ad254209" /><Relationship Type="http://schemas.openxmlformats.org/officeDocument/2006/relationships/notesSlide" Target="/ppt/notesSlides/notesSlide3.xml" Id="Rce42721134934e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b67b9d71845cf" /><Relationship Type="http://schemas.openxmlformats.org/officeDocument/2006/relationships/notesSlide" Target="/ppt/notesSlides/notesSlide4.xml" Id="R44c0464bf11e49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0b676311f44e1" /><Relationship Type="http://schemas.openxmlformats.org/officeDocument/2006/relationships/notesSlide" Target="/ppt/notesSlides/notesSlide5.xml" Id="R3e8af346579c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a2a97e9eb404f" /><Relationship Type="http://schemas.openxmlformats.org/officeDocument/2006/relationships/notesSlide" Target="/ppt/notesSlides/notesSlide6.xml" Id="R08f2bc236f2848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3213d66bc4a1d" /><Relationship Type="http://schemas.openxmlformats.org/officeDocument/2006/relationships/notesSlide" Target="/ppt/notesSlides/notesSlide7.xml" Id="R9c1bfe46dbbf42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4C84D-442E-4FE9-AE29-9BD726EC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7145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8B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35468-B372-4122-884F-C06A60D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</a:defRPr>
            </a:pPr>
            <a:r>
              <a:rPr sz="3750" b="1">
                <a:solidFill>
                  <a:srgbClr val="F8FAFC"/>
                </a:solidFill>
              </a:rPr>
              <a:t>RISKCOURT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A503F-5B34-4362-96AD-280C433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An AI prediction market for options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F848F-4C0F-43BB-96A0-C52843C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BD5E1"/>
                </a:solidFill>
              </a:rPr>
              <a:t>Independent jurors form calibrated odds. Deterministic policy trades only when jury odds beat the option-implied hurdle.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A34E8-5D53-4686-8163-8D20EF47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62050"/>
            <a:ext cx="3162300" cy="31813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4D912-6D54-4030-BF12-1E77F12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</a:defRPr>
            </a:pPr>
            <a:r>
              <a:rPr sz="2100" b="1">
                <a:solidFill>
                  <a:srgbClr val="F8FAFC"/>
                </a:solidFill>
              </a:rPr>
              <a:t>ARGUE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7D2A6-3771-4B24-BD19-6A35AD77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18CF8"/>
                </a:solidFill>
              </a:defRPr>
            </a:pPr>
            <a:r>
              <a:rPr sz="2100" b="1">
                <a:solidFill>
                  <a:srgbClr val="818CF8"/>
                </a:solidFill>
              </a:rPr>
              <a:t>CALIBRATE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43CCE-279E-4692-8968-ACA27AFB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D399"/>
                </a:solidFill>
              </a:defRPr>
            </a:pPr>
            <a:r>
              <a:rPr sz="2100" b="1">
                <a:solidFill>
                  <a:srgbClr val="34D399"/>
                </a:solidFill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79177-81AD-4F27-8B37-FAA32048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480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BBF24"/>
                </a:solidFill>
              </a:defRPr>
            </a:pPr>
            <a:r>
              <a:rPr sz="2100" b="1">
                <a:solidFill>
                  <a:srgbClr val="FBBF24"/>
                </a:solidFill>
              </a:rPr>
              <a:t>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57E32-334A-4DA6-8EA4-BAD28C4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304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1F816-7105-42DE-848E-5C57A98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Hackathon technical 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9E343-88D2-4459-BCEC-952CFFA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Recorded-first • Alpaca paper mode • No live-money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12086-6E87-4CE9-A1B8-9538760C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EA0C3-3E91-46C4-B1B1-8C308E8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557FB-6C2C-41B1-A6F7-F719A5EA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1285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63493-E761-4C21-AF05-C1A2B9D0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8B02D-0F00-4ADB-A171-D016E4D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AI forecasts are cheap; disciplined entry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38100-A9B8-42DB-A8F4-2182AA1E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A model can be persuasive and still be wrong, stale, oversized, or impossible to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38BCF-5A8C-40A8-947F-A8D0D04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0480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72A7A-26F4-4EE6-B1D0-C1D9FECF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MODEL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5A70-58AF-4213-AEED-4777D4B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“I think SPY finishes</a:t>
            </a:r>
          </a:p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above the strike.”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E7ACD-2CAB-4AF8-B342-DCAE6FE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Unbounded prose</a:t>
            </a:r>
          </a:p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No evidence contract</a:t>
            </a:r>
          </a:p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No size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08A9D-D5E9-4479-A60F-19DAC23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67125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9E64D-08FE-426B-9F85-EC20BE5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30480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395EB-E1CE-461D-A52A-87692F6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8CF8"/>
                </a:solidFill>
              </a:defRPr>
            </a:pPr>
            <a:r>
              <a:rPr sz="1350" b="1">
                <a:solidFill>
                  <a:srgbClr val="818CF8"/>
                </a:solidFill>
              </a:rPr>
              <a:t>RISKCOURT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BCA3C-924C-448B-9CF6-8E152945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147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Probability</a:t>
            </a:r>
          </a:p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meets payoff 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78735-99FE-4846-B3A1-4159D93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Evidence-bound</a:t>
            </a:r>
          </a:p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Calibrated</a:t>
            </a:r>
          </a:p>
          <a:p xmlns:a="http://schemas.openxmlformats.org/drawingml/2006/main"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Deterministic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54337-CA7A-4E6F-92FC-25FCE5CA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7125"/>
            <a:ext cx="876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7EFE5-23C6-4281-9075-FFAB2A1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76500"/>
            <a:ext cx="1371600" cy="26670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DE78B-0A19-4AD6-841B-FD38397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0"/>
            <a:ext cx="95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SAFE</a:t>
            </a:r>
          </a:p>
          <a:p xmlns:a="http://schemas.openxmlformats.org/drawingml/2006/main">
            <a:pPr algn="ctr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6C43-03E0-4CAA-A81F-D6B114F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43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or abstain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062D7-1EF2-41A1-B54E-73A65A76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54633-EF6C-4C94-98CD-59A1878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F52A7-A838-402E-8AB0-36172255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2268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98B88-D47C-4F59-8B8A-8A0BB4C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A4741-A79E-46B0-B724-47A69A94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Jury odds only matter when they clear the hurdle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96487-0FC3-44C7-A31D-BBAD6F5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The option quote supplies a transparent break-even proxy; the risk kernel decides whether an edge is tradable.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826A-1243-4852-84EF-85CEBB47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4762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0CAF8-BD1C-454D-932D-31CCA106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THE 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42A1E-D6C2-4C14-93C4-F6B5107A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</a:defRPr>
            </a:pPr>
            <a:r>
              <a:rPr sz="2400" b="1">
                <a:solidFill>
                  <a:srgbClr val="F8FAFC"/>
                </a:solidFill>
              </a:rPr>
              <a:t>P_hurdle = (D + S) /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4FE2D-8A19-4365-9168-FB85890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D  net debit per share</a:t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S  slippage buffer</a:t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W  strike 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D108C-0FDE-4D03-A130-704E1FE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54102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5BD43-9923-4549-B353-CF59812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18CF8"/>
                </a:solidFill>
              </a:defRPr>
            </a:pPr>
            <a:r>
              <a:rPr sz="1350" b="1">
                <a:solidFill>
                  <a:srgbClr val="818CF8"/>
                </a:solidFill>
              </a:rPr>
              <a:t>RECORDED SPY 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53B9B-9271-4173-987C-2A08C224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57.4%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EC410-B4FB-43F2-9FA7-ABF89CD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calibrated jury probability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2DA7F-800C-4324-82E8-6FCB3AAC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8BDF8"/>
                </a:solidFill>
              </a:defRPr>
            </a:pPr>
            <a:r>
              <a:rPr sz="2550" b="1">
                <a:solidFill>
                  <a:srgbClr val="38BDF8"/>
                </a:solidFill>
              </a:rPr>
              <a:t>32.0%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39743-7515-4634-82CD-36239D2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option-implied hurdle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15199-E69D-4B23-BEC6-66B4833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SPY $5-wide call spread  •  $1.50 debit  •  $0.10 buffer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BDFE0-39BD-4E28-A1C3-34A78042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26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CA201-F3A0-4B21-82DF-00663FC9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958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D399"/>
                </a:solidFill>
              </a:defRPr>
            </a:pPr>
            <a:r>
              <a:rPr sz="1425" b="1">
                <a:solidFill>
                  <a:srgbClr val="34D399"/>
                </a:solidFill>
              </a:rPr>
              <a:t>Edge = 25.4 percentage points  •  minimum = 8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575D2-53A2-4B44-A870-CB1F1C9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Payoff geometry is a proxy—not a literal physical probability.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5444E-EFCB-44C9-B6C8-00786A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454C2-4977-45BF-AB67-BCE7B842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14C2A-98B5-4262-B69B-D3BFCAD7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8517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BBE41-8250-496A-A7D1-49277AFE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GUARDRAIL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C6FC8-F411-410E-BE9B-1B45814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Every path can end in abstain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0FA29-E12A-4375-8643-E05754E5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Model confidence is never a substitute for fresh evidence, bounded risk, or an explicit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5DFBD-6E1D-4827-9625-960D5E34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7BCB1-15A9-46CA-A533-CB68841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A7013-B6F9-4A75-B3DA-1807965E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7FDD7-36E3-407C-89E1-8F81EA8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22E0F-2B1E-4303-9E67-48866B9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09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3E37A-9F9E-49A3-87B9-146C274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Fresh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8F142-E60D-4BE9-A12C-FA69D6B0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409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5C71-08E8-4D37-A5A6-F18CF67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Liquid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DBF67-AF0F-448B-A571-1A4F5B23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1409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818CF8"/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CC5D-B33E-4726-B44F-39CD6FF5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Edge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≥ 0.08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025F9-8673-4C06-8258-3923F978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409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B74A2-88E5-4860-B18C-3464891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Account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3AE09-AADD-4DC2-97D8-A3FA0D8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1409700" cy="1276350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04B3-09B0-4968-8AB0-36FD9D64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Approve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+ reserve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D572E-CBE0-4E11-AA4E-7CEEBAEC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9530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FC34B-AC49-4425-A6D8-6DB5925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Maximum loss = debit × 100 + fees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7FBD5-CD6B-4B9C-8E55-12B902CC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One contract • 0.5% of account equity cap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412C5-F277-40D7-88EE-C2B63022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4102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A1722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6C519-6749-4023-A847-D11DBAD6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7185"/>
                </a:solidFill>
              </a:defRPr>
            </a:pPr>
            <a:r>
              <a:rPr sz="1800" b="1">
                <a:solidFill>
                  <a:srgbClr val="FB7185"/>
                </a:solidFill>
              </a:rPr>
              <a:t>Fail closed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6BE8E-51C4-4CFA-93A9-C401B98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stale • missing • disagreement • duplicate • kill switch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D40DC-5BC1-4DDA-B353-B4F2125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E4638-9AE1-4E51-A8CB-2D35268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F2062-B641-47F1-B5E7-55E562D6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2651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1E0A7-7648-416E-A6F3-1F5BB016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F8BE2-5A83-4A69-850A-160B80C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A paper order is the last step, not the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BEAB4-30F7-4D5F-A6D8-D8A25F21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Alpaca reads, approval binding, and idempotent execution keep the AI boundary narrow.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FCF70-9F30-43A1-B8E5-D9F86869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575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93600-5A1B-4FB5-847C-5265E53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3E542-5D5A-4B34-A097-79490EE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575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02540-5357-4522-AE07-C373E7E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9812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BCC9D-5041-4A3C-8705-EBB53807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BDF8"/>
                </a:solidFill>
              </a:defRPr>
            </a:pPr>
            <a:r>
              <a:rPr sz="1425" b="1">
                <a:solidFill>
                  <a:srgbClr val="38BDF8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963B7-E0E6-47A4-9501-FBCF7E2F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account • clock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SPY quote • bars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option 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18DE8-052B-4ECC-8603-A1A10E78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9812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536F1-9E73-499D-A6D7-76670A6F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6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2936B-C11F-46C6-9A38-F99A0400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same expiry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liquid vertical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reconstructable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8A5F-6A10-4DF4-A6DB-5901209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19812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818C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92433-4412-43AC-ADBF-9DCCCC6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18CF8"/>
                </a:solidFill>
              </a:defRPr>
            </a:pPr>
            <a:r>
              <a:rPr sz="1425" b="1">
                <a:solidFill>
                  <a:srgbClr val="818CF8"/>
                </a:solidFill>
              </a:rPr>
              <a:t>BIND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B96E3-31F0-4202-B8A4-0840E21C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intent + evidence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policy version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30-second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4F2E9-2DDE-4240-899C-C24CEDD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19812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A8BB8-A65C-4B34-8B89-E096D3F5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D399"/>
                </a:solidFill>
              </a:defRPr>
            </a:pPr>
            <a:r>
              <a:rPr sz="1425" b="1">
                <a:solidFill>
                  <a:srgbClr val="34D399"/>
                </a:solidFill>
              </a:rPr>
              <a:t>SUBMIT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C1B36-3165-4E46-98BC-259D8F6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Alpaca `mleg`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day limit order</a:t>
            </a:r>
          </a:p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client 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4899F-EB24-4DD4-91CB-67C25A5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918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74411-3A4E-4492-855B-8536D1AF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After submit: accepted → partial/filled → canceled/rejected → exit → P&amp;L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5A228-CDF0-492D-B855-9D2D3CE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BF24"/>
                </a:solidFill>
              </a:defRPr>
            </a:pPr>
            <a:r>
              <a:rPr sz="1200" b="0">
                <a:solidFill>
                  <a:srgbClr val="FBBF24"/>
                </a:solidFill>
              </a:rPr>
              <a:t>The official MCP/CLI proof and a market-open paper order are still release gates.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2275CF-86DD-4DBA-91D2-6BEF80C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84DC4-E201-4545-8928-AE1C50BB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26751-9846-429E-8929-5F02D31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0911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8448F-1663-48CF-A5F2-9C2F2E9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4CEBD-C923-4FB1-A871-D6B9EA0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The story is replayable before the market is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15947-AD7E-4867-A222-6DFCF30A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Recorded cases exercise the same decision boundaries without credentials, network access, or fake live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4D344-495C-4A91-9821-8A14420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8A8D2-2393-4D40-A0E2-E534CBEE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12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29C0D-6006-409E-9EFF-2AB63899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trade  •  abstain</a:t>
            </a:r>
          </a:p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veto  • 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9D33E-529F-4C5F-9D84-AE4E4362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stale quotes • illiquidity</a:t>
            </a:r>
          </a:p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no edge • disagreement</a:t>
            </a:r>
          </a:p>
          <a:p xmlns:a="http://schemas.openxmlformats.org/drawingml/2006/main"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injection • outage • duplicate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E1343-7D0D-4258-B0E7-48198F0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00450"/>
            <a:ext cx="952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18311-41ED-4899-BED9-7A39378E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0292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356A2-8CD3-4460-921C-97DF4CD2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D399"/>
                </a:solidFill>
              </a:defRPr>
            </a:pPr>
            <a:r>
              <a:rPr sz="1500" b="1">
                <a:solidFill>
                  <a:srgbClr val="34D399"/>
                </a:solidFill>
              </a:rPr>
              <a:t>JUDGE-FACING DECISION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5A977-7921-475F-9C7E-5B61A0A4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419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jury odds  →  hurdle  →  edge</a:t>
            </a:r>
          </a:p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selected legs  →  max loss</a:t>
            </a:r>
          </a:p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order lifecycle  →  paper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1A91F-7A1B-422F-A0B5-7A89ECD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Five consecutive golden rehearsals are timestamped in the repository.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2C571-4576-4C99-84CC-3C05ABE8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79131-B193-499F-B858-F949C0B0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19A2A-1CF2-4457-8858-FE8F33F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8677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38F42-5D44-4511-8C16-9160EC47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THE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DA4A8-4433-484C-81A6-52D9EA8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What is ready—and what still needs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CAB6E-0A18-490B-A85B-8E9B293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RiskCourt is honest about the difference between a verified local release candidate and a judged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16DC-E4F2-4B8B-BDC9-AD2D172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95300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8593D-8EBE-48F2-9504-5119123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D399"/>
                </a:solidFill>
              </a:defRPr>
            </a:pPr>
            <a:r>
              <a:rPr sz="1575" b="1">
                <a:solidFill>
                  <a:srgbClr val="34D399"/>
                </a:solidFill>
              </a:rPr>
              <a:t>READY LOCALLY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89C24-337E-4A26-B8F2-B7310AED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✓  deterministic probability + hurdle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✓  bounded multi-leg paper mapping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✓  evidence-bound approvals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✓  replay, evaluation, browser, security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61D5-AC53-4397-89CC-86A62B0A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541020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2A2110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32D6-2437-4A19-82E1-C810BF4C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BBF24"/>
                </a:solidFill>
              </a:defRPr>
            </a:pPr>
            <a:r>
              <a:rPr sz="1575" b="1">
                <a:solidFill>
                  <a:srgbClr val="FBBF24"/>
                </a:solidFill>
              </a:rPr>
              <a:t>OPEN RELEASE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B7FE1-CFC4-4FE9-8FE9-538DAE2D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• official Alpaca MCP/CLI proof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• fresh-account market-open order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• terminal lifecycle + P&amp;L read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• hosted verification and final LabLab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92C8A-2A22-4D33-8109-3262DD8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B7185"/>
                </a:solidFill>
              </a:defRPr>
            </a:pPr>
            <a:r>
              <a:rPr sz="1425" b="1">
                <a:solidFill>
                  <a:srgbClr val="FB7185"/>
                </a:solidFill>
              </a:rPr>
              <a:t>No live-money execution path exists. Paper performance is not a promise of future returns.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DDF50-1AFC-4AAC-BDDF-25FC862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0685-E889-482B-8C3F-AC06F014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RISKCOURT  /  PAPER-ONLY OPTIONS ALPHA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0484A-3BBE-4CB3-9B41-6A1B607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5212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2026-08-30T06:04:15.1020000Z</dcterms:created>
  <dcterms:modified xsi:type="dcterms:W3CDTF">2026-08-30T06:04:15.1020000Z</dcterms:modified>
</coreProperties>
</file>